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aret" panose="020B0604020202020204" charset="0"/>
      <p:regular r:id="rId24"/>
    </p:embeddedFont>
    <p:embeddedFont>
      <p:font typeface="Garet Bold" panose="020B0604020202020204" charset="0"/>
      <p:regular r:id="rId25"/>
    </p:embeddedFont>
    <p:embeddedFont>
      <p:font typeface="Garet Bold Italics" panose="020B0604020202020204" charset="0"/>
      <p:regular r:id="rId26"/>
    </p:embeddedFont>
    <p:embeddedFont>
      <p:font typeface="Open Sauce" panose="020B0604020202020204" charset="0"/>
      <p:regular r:id="rId27"/>
    </p:embeddedFont>
    <p:embeddedFont>
      <p:font typeface="Open Sauce Bold" panose="020B0604020202020204" charset="0"/>
      <p:regular r:id="rId28"/>
    </p:embeddedFont>
    <p:embeddedFont>
      <p:font typeface="Times New Roman MT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6.svg"/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.svg"/><Relationship Id="rId5" Type="http://schemas.openxmlformats.org/officeDocument/2006/relationships/image" Target="../media/image2.svg"/><Relationship Id="rId1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0.sv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18" Type="http://schemas.openxmlformats.org/officeDocument/2006/relationships/image" Target="../media/image20.png"/><Relationship Id="rId3" Type="http://schemas.openxmlformats.org/officeDocument/2006/relationships/image" Target="../media/image17.svg"/><Relationship Id="rId7" Type="http://schemas.openxmlformats.org/officeDocument/2006/relationships/image" Target="../media/image14.svg"/><Relationship Id="rId12" Type="http://schemas.openxmlformats.org/officeDocument/2006/relationships/image" Target="../media/image7.png"/><Relationship Id="rId17" Type="http://schemas.openxmlformats.org/officeDocument/2006/relationships/image" Target="../media/image6.svg"/><Relationship Id="rId2" Type="http://schemas.openxmlformats.org/officeDocument/2006/relationships/image" Target="../media/image16.png"/><Relationship Id="rId16" Type="http://schemas.openxmlformats.org/officeDocument/2006/relationships/image" Target="../media/image5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.svg"/><Relationship Id="rId5" Type="http://schemas.openxmlformats.org/officeDocument/2006/relationships/image" Target="../media/image19.svg"/><Relationship Id="rId15" Type="http://schemas.openxmlformats.org/officeDocument/2006/relationships/image" Target="../media/image10.svg"/><Relationship Id="rId10" Type="http://schemas.openxmlformats.org/officeDocument/2006/relationships/image" Target="../media/image1.png"/><Relationship Id="rId19" Type="http://schemas.openxmlformats.org/officeDocument/2006/relationships/image" Target="../media/image21.svg"/><Relationship Id="rId4" Type="http://schemas.openxmlformats.org/officeDocument/2006/relationships/image" Target="../media/image18.png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svg"/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22.png"/><Relationship Id="rId2" Type="http://schemas.openxmlformats.org/officeDocument/2006/relationships/image" Target="../media/image1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14.svg"/><Relationship Id="rId15" Type="http://schemas.openxmlformats.org/officeDocument/2006/relationships/image" Target="../media/image6.sv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.svg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svg"/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23.png"/><Relationship Id="rId2" Type="http://schemas.openxmlformats.org/officeDocument/2006/relationships/image" Target="../media/image1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14.svg"/><Relationship Id="rId15" Type="http://schemas.openxmlformats.org/officeDocument/2006/relationships/image" Target="../media/image6.sv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.svg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18" Type="http://schemas.openxmlformats.org/officeDocument/2006/relationships/image" Target="../media/image12.png"/><Relationship Id="rId3" Type="http://schemas.openxmlformats.org/officeDocument/2006/relationships/image" Target="../media/image17.svg"/><Relationship Id="rId7" Type="http://schemas.openxmlformats.org/officeDocument/2006/relationships/image" Target="../media/image14.svg"/><Relationship Id="rId12" Type="http://schemas.openxmlformats.org/officeDocument/2006/relationships/image" Target="../media/image7.png"/><Relationship Id="rId17" Type="http://schemas.openxmlformats.org/officeDocument/2006/relationships/image" Target="../media/image6.svg"/><Relationship Id="rId2" Type="http://schemas.openxmlformats.org/officeDocument/2006/relationships/image" Target="../media/image16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.svg"/><Relationship Id="rId5" Type="http://schemas.openxmlformats.org/officeDocument/2006/relationships/image" Target="../media/image19.svg"/><Relationship Id="rId15" Type="http://schemas.openxmlformats.org/officeDocument/2006/relationships/image" Target="../media/image10.svg"/><Relationship Id="rId10" Type="http://schemas.openxmlformats.org/officeDocument/2006/relationships/image" Target="../media/image1.png"/><Relationship Id="rId19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svg"/><Relationship Id="rId18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25.png"/><Relationship Id="rId2" Type="http://schemas.openxmlformats.org/officeDocument/2006/relationships/image" Target="../media/image1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14.svg"/><Relationship Id="rId15" Type="http://schemas.openxmlformats.org/officeDocument/2006/relationships/image" Target="../media/image6.sv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.svg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18" Type="http://schemas.openxmlformats.org/officeDocument/2006/relationships/image" Target="../media/image12.png"/><Relationship Id="rId3" Type="http://schemas.openxmlformats.org/officeDocument/2006/relationships/image" Target="../media/image17.svg"/><Relationship Id="rId21" Type="http://schemas.openxmlformats.org/officeDocument/2006/relationships/image" Target="../media/image29.png"/><Relationship Id="rId7" Type="http://schemas.openxmlformats.org/officeDocument/2006/relationships/image" Target="../media/image14.svg"/><Relationship Id="rId12" Type="http://schemas.openxmlformats.org/officeDocument/2006/relationships/image" Target="../media/image7.png"/><Relationship Id="rId17" Type="http://schemas.openxmlformats.org/officeDocument/2006/relationships/image" Target="../media/image10.svg"/><Relationship Id="rId2" Type="http://schemas.openxmlformats.org/officeDocument/2006/relationships/image" Target="../media/image16.png"/><Relationship Id="rId16" Type="http://schemas.openxmlformats.org/officeDocument/2006/relationships/image" Target="../media/image9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.svg"/><Relationship Id="rId5" Type="http://schemas.openxmlformats.org/officeDocument/2006/relationships/image" Target="../media/image19.svg"/><Relationship Id="rId15" Type="http://schemas.openxmlformats.org/officeDocument/2006/relationships/image" Target="../media/image6.svg"/><Relationship Id="rId10" Type="http://schemas.openxmlformats.org/officeDocument/2006/relationships/image" Target="../media/image1.png"/><Relationship Id="rId19" Type="http://schemas.openxmlformats.org/officeDocument/2006/relationships/image" Target="../media/image27.png"/><Relationship Id="rId4" Type="http://schemas.openxmlformats.org/officeDocument/2006/relationships/image" Target="../media/image18.png"/><Relationship Id="rId9" Type="http://schemas.openxmlformats.org/officeDocument/2006/relationships/image" Target="../media/image4.svg"/><Relationship Id="rId1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21" Type="http://schemas.openxmlformats.org/officeDocument/2006/relationships/image" Target="../media/image32.pn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21" Type="http://schemas.openxmlformats.org/officeDocument/2006/relationships/image" Target="../media/image33.pn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21" Type="http://schemas.openxmlformats.org/officeDocument/2006/relationships/image" Target="../media/image34.pn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21" Type="http://schemas.openxmlformats.org/officeDocument/2006/relationships/image" Target="../media/image35.pn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image" Target="../media/image10.svg"/><Relationship Id="rId21" Type="http://schemas.openxmlformats.org/officeDocument/2006/relationships/image" Target="../media/image36.png"/><Relationship Id="rId7" Type="http://schemas.openxmlformats.org/officeDocument/2006/relationships/image" Target="../media/image31.svg"/><Relationship Id="rId12" Type="http://schemas.openxmlformats.org/officeDocument/2006/relationships/image" Target="../media/image13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9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8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7.svg"/><Relationship Id="rId1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mohammedarfathr/cpu-performance-metrics-system-monitoring-logs" TargetMode="External"/><Relationship Id="rId13" Type="http://schemas.openxmlformats.org/officeDocument/2006/relationships/image" Target="../media/image13.png"/><Relationship Id="rId18" Type="http://schemas.openxmlformats.org/officeDocument/2006/relationships/image" Target="../media/image4.svg"/><Relationship Id="rId3" Type="http://schemas.openxmlformats.org/officeDocument/2006/relationships/image" Target="../media/image10.svg"/><Relationship Id="rId21" Type="http://schemas.openxmlformats.org/officeDocument/2006/relationships/image" Target="../media/image12.png"/><Relationship Id="rId7" Type="http://schemas.openxmlformats.org/officeDocument/2006/relationships/image" Target="../media/image31.svg"/><Relationship Id="rId12" Type="http://schemas.openxmlformats.org/officeDocument/2006/relationships/image" Target="../media/image19.svg"/><Relationship Id="rId17" Type="http://schemas.openxmlformats.org/officeDocument/2006/relationships/image" Target="../media/image3.png"/><Relationship Id="rId2" Type="http://schemas.openxmlformats.org/officeDocument/2006/relationships/image" Target="../media/image9.png"/><Relationship Id="rId16" Type="http://schemas.openxmlformats.org/officeDocument/2006/relationships/image" Target="../media/image2.svg"/><Relationship Id="rId20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8.png"/><Relationship Id="rId24" Type="http://schemas.openxmlformats.org/officeDocument/2006/relationships/hyperlink" Target="https://lms.thapar.edu/moodle/mod/resource/view.php?id=151119" TargetMode="External"/><Relationship Id="rId5" Type="http://schemas.openxmlformats.org/officeDocument/2006/relationships/image" Target="../media/image8.svg"/><Relationship Id="rId15" Type="http://schemas.openxmlformats.org/officeDocument/2006/relationships/image" Target="../media/image1.png"/><Relationship Id="rId23" Type="http://schemas.openxmlformats.org/officeDocument/2006/relationships/hyperlink" Target="https://www.researchgate.net/publication/355483327_Study_on_the_Prediction_of_Indoor_Temperature_and_Thermal_Load_on_Different_Floors_in_a_Community" TargetMode="External"/><Relationship Id="rId10" Type="http://schemas.openxmlformats.org/officeDocument/2006/relationships/image" Target="../media/image17.svg"/><Relationship Id="rId19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14" Type="http://schemas.openxmlformats.org/officeDocument/2006/relationships/image" Target="../media/image14.svg"/><Relationship Id="rId22" Type="http://schemas.openxmlformats.org/officeDocument/2006/relationships/hyperlink" Target="https://dl.acm.org/doi/10.1145/2694344.269437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420761" cy="9377408"/>
            </a:xfrm>
            <a:custGeom>
              <a:avLst/>
              <a:gdLst/>
              <a:ahLst/>
              <a:cxnLst/>
              <a:rect l="l" t="t" r="r" b="b"/>
              <a:pathLst>
                <a:path w="18420761" h="9377408">
                  <a:moveTo>
                    <a:pt x="18420761" y="0"/>
                  </a:moveTo>
                  <a:lnTo>
                    <a:pt x="0" y="0"/>
                  </a:lnTo>
                  <a:lnTo>
                    <a:pt x="0" y="9377408"/>
                  </a:lnTo>
                  <a:lnTo>
                    <a:pt x="18420761" y="9377408"/>
                  </a:lnTo>
                  <a:lnTo>
                    <a:pt x="1842076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</p:grpSp>
      <p:sp>
        <p:nvSpPr>
          <p:cNvPr id="7" name="AutoShape 7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Freeform 9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259017" y="453433"/>
            <a:ext cx="304376" cy="294415"/>
          </a:xfrm>
          <a:custGeom>
            <a:avLst/>
            <a:gdLst/>
            <a:ahLst/>
            <a:cxnLst/>
            <a:rect l="l" t="t" r="r" b="b"/>
            <a:pathLst>
              <a:path w="304376" h="294415">
                <a:moveTo>
                  <a:pt x="0" y="0"/>
                </a:moveTo>
                <a:lnTo>
                  <a:pt x="304376" y="0"/>
                </a:lnTo>
                <a:lnTo>
                  <a:pt x="304376" y="294415"/>
                </a:lnTo>
                <a:lnTo>
                  <a:pt x="0" y="29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845319" y="453433"/>
            <a:ext cx="294415" cy="294415"/>
          </a:xfrm>
          <a:custGeom>
            <a:avLst/>
            <a:gdLst/>
            <a:ahLst/>
            <a:cxnLst/>
            <a:rect l="l" t="t" r="r" b="b"/>
            <a:pathLst>
              <a:path w="294415" h="294415">
                <a:moveTo>
                  <a:pt x="0" y="0"/>
                </a:moveTo>
                <a:lnTo>
                  <a:pt x="294415" y="0"/>
                </a:lnTo>
                <a:lnTo>
                  <a:pt x="294415" y="294415"/>
                </a:lnTo>
                <a:lnTo>
                  <a:pt x="0" y="29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0" y="4645343"/>
            <a:ext cx="8696250" cy="4978603"/>
          </a:xfrm>
          <a:custGeom>
            <a:avLst/>
            <a:gdLst/>
            <a:ahLst/>
            <a:cxnLst/>
            <a:rect l="l" t="t" r="r" b="b"/>
            <a:pathLst>
              <a:path w="8696250" h="4978603">
                <a:moveTo>
                  <a:pt x="0" y="0"/>
                </a:moveTo>
                <a:lnTo>
                  <a:pt x="8696250" y="0"/>
                </a:lnTo>
                <a:lnTo>
                  <a:pt x="8696250" y="4978603"/>
                </a:lnTo>
                <a:lnTo>
                  <a:pt x="0" y="49786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1824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8470" y="2019821"/>
            <a:ext cx="16230600" cy="360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sz="7917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Predicting Server CPU Temperature using Machine Learning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UCS321 Introduction to AI for Engineers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9649" y="405808"/>
            <a:ext cx="274936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1948670" y="5696471"/>
            <a:ext cx="12415373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i="1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Proactive Cooling Management and Failure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36550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902535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5" y="0"/>
                  </a:lnTo>
                  <a:lnTo>
                    <a:pt x="387695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16099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AutoShape 13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" name="Freeform 14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b="-18245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925193" y="2358284"/>
            <a:ext cx="5970671" cy="7307731"/>
          </a:xfrm>
          <a:custGeom>
            <a:avLst/>
            <a:gdLst/>
            <a:ahLst/>
            <a:cxnLst/>
            <a:rect l="l" t="t" r="r" b="b"/>
            <a:pathLst>
              <a:path w="5970671" h="7307731">
                <a:moveTo>
                  <a:pt x="0" y="0"/>
                </a:moveTo>
                <a:lnTo>
                  <a:pt x="5970670" y="0"/>
                </a:lnTo>
                <a:lnTo>
                  <a:pt x="5970670" y="7307731"/>
                </a:lnTo>
                <a:lnTo>
                  <a:pt x="0" y="73077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7664" t="-10568" r="-17664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55156" y="1920159"/>
            <a:ext cx="10165838" cy="125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69"/>
              </a:lnSpc>
              <a:spcBef>
                <a:spcPct val="0"/>
              </a:spcBef>
            </a:pPr>
            <a:r>
              <a:rPr lang="en-US" sz="733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137997" y="3726880"/>
            <a:ext cx="11204733" cy="406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5010" lvl="1" indent="-272505" algn="l">
              <a:lnSpc>
                <a:spcPts val="5452"/>
              </a:lnSpc>
              <a:buFont typeface="Arial"/>
              <a:buChar char="•"/>
            </a:pPr>
            <a:r>
              <a:rPr lang="en-US" sz="2524" spc="-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Servers generate high heat during heavy workloads, which can lead to hardware damage and reduced performance.</a:t>
            </a:r>
          </a:p>
          <a:p>
            <a:pPr marL="545010" lvl="1" indent="-272505" algn="l">
              <a:lnSpc>
                <a:spcPts val="5452"/>
              </a:lnSpc>
              <a:buFont typeface="Arial"/>
              <a:buChar char="•"/>
            </a:pPr>
            <a:r>
              <a:rPr lang="en-US" sz="2524" spc="-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Overheating increases energy consumption and operational costs in data centers.</a:t>
            </a:r>
          </a:p>
          <a:p>
            <a:pPr marL="545010" lvl="1" indent="-272505" algn="l">
              <a:lnSpc>
                <a:spcPts val="5452"/>
              </a:lnSpc>
              <a:buFont typeface="Arial"/>
              <a:buChar char="•"/>
            </a:pPr>
            <a:r>
              <a:rPr lang="en-US" sz="2524" spc="-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Traditional cooling systems work reactively instead of predicting temperature changes in advance.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5156" y="8186045"/>
            <a:ext cx="12341345" cy="163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1"/>
              </a:lnSpc>
              <a:spcBef>
                <a:spcPct val="0"/>
              </a:spcBef>
            </a:pPr>
            <a:r>
              <a:rPr lang="en-US" sz="3136" b="1" i="1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So, there is a need for a Machine Learning model to accurately predict server temperature and enable proactive cooling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Freeform 1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557367" y="266318"/>
            <a:ext cx="192386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 Statement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11692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86181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515039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Solutions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UCS321 Introduction to AI for Engineers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56986" y="4516139"/>
            <a:ext cx="4881704" cy="1118777"/>
            <a:chOff x="0" y="0"/>
            <a:chExt cx="1773297" cy="406400"/>
          </a:xfrm>
        </p:grpSpPr>
        <p:sp>
          <p:nvSpPr>
            <p:cNvPr id="24" name="Freeform 24"/>
            <p:cNvSpPr/>
            <p:nvPr/>
          </p:nvSpPr>
          <p:spPr>
            <a:xfrm>
              <a:off x="17780" y="22860"/>
              <a:ext cx="1747897" cy="360680"/>
            </a:xfrm>
            <a:custGeom>
              <a:avLst/>
              <a:gdLst/>
              <a:ahLst/>
              <a:cxnLst/>
              <a:rect l="l" t="t" r="r" b="b"/>
              <a:pathLst>
                <a:path w="1747897" h="360680">
                  <a:moveTo>
                    <a:pt x="1747897" y="180340"/>
                  </a:moveTo>
                  <a:cubicBezTo>
                    <a:pt x="1747897" y="81280"/>
                    <a:pt x="1667887" y="0"/>
                    <a:pt x="156755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67557" y="360680"/>
                  </a:lnTo>
                  <a:cubicBezTo>
                    <a:pt x="1666617" y="360680"/>
                    <a:pt x="1747897" y="279400"/>
                    <a:pt x="1747897" y="180340"/>
                  </a:cubicBezTo>
                  <a:close/>
                </a:path>
              </a:pathLst>
            </a:custGeom>
            <a:solidFill>
              <a:srgbClr val="C4C5C6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108251" y="4516139"/>
            <a:ext cx="4881704" cy="1118777"/>
            <a:chOff x="0" y="0"/>
            <a:chExt cx="1773297" cy="406400"/>
          </a:xfrm>
        </p:grpSpPr>
        <p:sp>
          <p:nvSpPr>
            <p:cNvPr id="26" name="Freeform 26"/>
            <p:cNvSpPr/>
            <p:nvPr/>
          </p:nvSpPr>
          <p:spPr>
            <a:xfrm>
              <a:off x="17780" y="22860"/>
              <a:ext cx="1747897" cy="360680"/>
            </a:xfrm>
            <a:custGeom>
              <a:avLst/>
              <a:gdLst/>
              <a:ahLst/>
              <a:cxnLst/>
              <a:rect l="l" t="t" r="r" b="b"/>
              <a:pathLst>
                <a:path w="1747897" h="360680">
                  <a:moveTo>
                    <a:pt x="1747897" y="180340"/>
                  </a:moveTo>
                  <a:cubicBezTo>
                    <a:pt x="1747897" y="81280"/>
                    <a:pt x="1667887" y="0"/>
                    <a:pt x="156755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67557" y="360680"/>
                  </a:lnTo>
                  <a:cubicBezTo>
                    <a:pt x="1666617" y="360680"/>
                    <a:pt x="1747897" y="279400"/>
                    <a:pt x="1747897" y="180340"/>
                  </a:cubicBezTo>
                  <a:close/>
                </a:path>
              </a:pathLst>
            </a:custGeom>
            <a:solidFill>
              <a:srgbClr val="C4C5C6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359516" y="4516139"/>
            <a:ext cx="4881704" cy="1118777"/>
            <a:chOff x="0" y="0"/>
            <a:chExt cx="1773297" cy="406400"/>
          </a:xfrm>
        </p:grpSpPr>
        <p:sp>
          <p:nvSpPr>
            <p:cNvPr id="28" name="Freeform 28"/>
            <p:cNvSpPr/>
            <p:nvPr/>
          </p:nvSpPr>
          <p:spPr>
            <a:xfrm>
              <a:off x="17780" y="22860"/>
              <a:ext cx="1747897" cy="360680"/>
            </a:xfrm>
            <a:custGeom>
              <a:avLst/>
              <a:gdLst/>
              <a:ahLst/>
              <a:cxnLst/>
              <a:rect l="l" t="t" r="r" b="b"/>
              <a:pathLst>
                <a:path w="1747897" h="360680">
                  <a:moveTo>
                    <a:pt x="1747897" y="180340"/>
                  </a:moveTo>
                  <a:cubicBezTo>
                    <a:pt x="1747897" y="81280"/>
                    <a:pt x="1667887" y="0"/>
                    <a:pt x="156755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67557" y="360680"/>
                  </a:lnTo>
                  <a:cubicBezTo>
                    <a:pt x="1666617" y="360680"/>
                    <a:pt x="1747897" y="279400"/>
                    <a:pt x="1747897" y="180340"/>
                  </a:cubicBezTo>
                  <a:close/>
                </a:path>
              </a:pathLst>
            </a:custGeom>
            <a:solidFill>
              <a:srgbClr val="C4C5C6"/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1071709" y="4208680"/>
            <a:ext cx="319354" cy="823033"/>
          </a:xfrm>
          <a:custGeom>
            <a:avLst/>
            <a:gdLst/>
            <a:ahLst/>
            <a:cxnLst/>
            <a:rect l="l" t="t" r="r" b="b"/>
            <a:pathLst>
              <a:path w="319354" h="823033">
                <a:moveTo>
                  <a:pt x="0" y="0"/>
                </a:moveTo>
                <a:lnTo>
                  <a:pt x="319354" y="0"/>
                </a:lnTo>
                <a:lnTo>
                  <a:pt x="319354" y="823033"/>
                </a:lnTo>
                <a:lnTo>
                  <a:pt x="0" y="8230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6600255" y="4784063"/>
            <a:ext cx="3965957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Manual Monitoring &amp; Alerts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51520" y="4876456"/>
            <a:ext cx="3965957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Statistical Methods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22974" y="4208680"/>
            <a:ext cx="319354" cy="823033"/>
          </a:xfrm>
          <a:custGeom>
            <a:avLst/>
            <a:gdLst/>
            <a:ahLst/>
            <a:cxnLst/>
            <a:rect l="l" t="t" r="r" b="b"/>
            <a:pathLst>
              <a:path w="319354" h="823033">
                <a:moveTo>
                  <a:pt x="0" y="0"/>
                </a:moveTo>
                <a:lnTo>
                  <a:pt x="319354" y="0"/>
                </a:lnTo>
                <a:lnTo>
                  <a:pt x="319354" y="823033"/>
                </a:lnTo>
                <a:lnTo>
                  <a:pt x="0" y="8230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1574239" y="4208680"/>
            <a:ext cx="319354" cy="823033"/>
          </a:xfrm>
          <a:custGeom>
            <a:avLst/>
            <a:gdLst/>
            <a:ahLst/>
            <a:cxnLst/>
            <a:rect l="l" t="t" r="r" b="b"/>
            <a:pathLst>
              <a:path w="319354" h="823033">
                <a:moveTo>
                  <a:pt x="0" y="0"/>
                </a:moveTo>
                <a:lnTo>
                  <a:pt x="319354" y="0"/>
                </a:lnTo>
                <a:lnTo>
                  <a:pt x="319354" y="823033"/>
                </a:lnTo>
                <a:lnTo>
                  <a:pt x="0" y="8230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719805" y="2334914"/>
            <a:ext cx="16083771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Existing Solutions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1386" y="5869247"/>
            <a:ext cx="4201164" cy="170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Traditional systems trigger cooling only after temperature crosses a </a:t>
            </a:r>
            <a:r>
              <a:rPr lang="en-US" sz="2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fixed threshold.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8989" y="4784063"/>
            <a:ext cx="3965957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Rule-Based Monitoring Systems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82651" y="5878772"/>
            <a:ext cx="4201164" cy="169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Administrators monitor</a:t>
            </a: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server temperatures and take action when overheating occurs.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33916" y="5878772"/>
            <a:ext cx="4201164" cy="211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Basic statistical models (like average load estimation)</a:t>
            </a: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are used to estimate temperature trends.</a:t>
            </a:r>
          </a:p>
        </p:txBody>
      </p:sp>
      <p:sp>
        <p:nvSpPr>
          <p:cNvPr id="39" name="Freeform 39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255156" y="8598477"/>
            <a:ext cx="17972461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 b="1" i="1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Threshold systems react to overheating—ML predicts it before it happens</a:t>
            </a:r>
          </a:p>
          <a:p>
            <a:pPr algn="ctr">
              <a:lnSpc>
                <a:spcPts val="4549"/>
              </a:lnSpc>
              <a:spcBef>
                <a:spcPct val="0"/>
              </a:spcBef>
            </a:pPr>
            <a:endParaRPr lang="en-US" sz="3499" b="1" i="1">
              <a:solidFill>
                <a:srgbClr val="000000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8756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516099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085296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61894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7432915" y="421064"/>
              <a:ext cx="3820857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Objectives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b="-18245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374544" y="2450828"/>
            <a:ext cx="7576894" cy="7099122"/>
          </a:xfrm>
          <a:custGeom>
            <a:avLst/>
            <a:gdLst/>
            <a:ahLst/>
            <a:cxnLst/>
            <a:rect l="l" t="t" r="r" b="b"/>
            <a:pathLst>
              <a:path w="7576894" h="7099122">
                <a:moveTo>
                  <a:pt x="0" y="0"/>
                </a:moveTo>
                <a:lnTo>
                  <a:pt x="7576894" y="0"/>
                </a:lnTo>
                <a:lnTo>
                  <a:pt x="7576894" y="7099122"/>
                </a:lnTo>
                <a:lnTo>
                  <a:pt x="0" y="70991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4603" r="-19277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55156" y="2010936"/>
            <a:ext cx="9892507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8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5156" y="3431626"/>
            <a:ext cx="9896914" cy="660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9"/>
              </a:lnSpc>
            </a:pP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Develop a </a:t>
            </a:r>
            <a:r>
              <a:rPr lang="en-US" sz="2225" b="1" spc="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regression-based</a:t>
            </a: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Machine Learning model to accurately predict CPU temperature using system performance parameters.</a:t>
            </a:r>
          </a:p>
          <a:p>
            <a:pPr algn="l">
              <a:lnSpc>
                <a:spcPts val="4429"/>
              </a:lnSpc>
            </a:pP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</a:t>
            </a:r>
            <a:r>
              <a:rPr lang="en-US" sz="2225" b="1" spc="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Compare multiple regression models (Linear Regression, Decision Tree, Random Forest)</a:t>
            </a: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to identify the best-performing model.</a:t>
            </a:r>
          </a:p>
          <a:p>
            <a:pPr algn="l">
              <a:lnSpc>
                <a:spcPts val="4429"/>
              </a:lnSpc>
            </a:pP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Analyze feature importance to understand </a:t>
            </a:r>
            <a:r>
              <a:rPr lang="en-US" sz="2225" b="1" spc="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which system parameters most influence CPU temperature.</a:t>
            </a:r>
          </a:p>
          <a:p>
            <a:pPr algn="l">
              <a:lnSpc>
                <a:spcPts val="4429"/>
              </a:lnSpc>
            </a:pP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Evaluate model performance using </a:t>
            </a:r>
            <a:r>
              <a:rPr lang="en-US" sz="2225" b="1" spc="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R² score, MAPE, MSE and RMSE</a:t>
            </a: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to ensure reliability.</a:t>
            </a:r>
          </a:p>
          <a:p>
            <a:pPr algn="l">
              <a:lnSpc>
                <a:spcPts val="4429"/>
              </a:lnSpc>
            </a:pP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Design a </a:t>
            </a:r>
            <a:r>
              <a:rPr lang="en-US" sz="2225" b="1" spc="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cooling decision system</a:t>
            </a:r>
            <a:r>
              <a:rPr lang="en-US" sz="2225" spc="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based on predicted temperature levels to enable proactive server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06591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16099" y="406591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085296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61894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232510" y="406591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Dataset Info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b="-18245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025233" y="3520748"/>
            <a:ext cx="9940745" cy="6461102"/>
          </a:xfrm>
          <a:custGeom>
            <a:avLst/>
            <a:gdLst/>
            <a:ahLst/>
            <a:cxnLst/>
            <a:rect l="l" t="t" r="r" b="b"/>
            <a:pathLst>
              <a:path w="9940745" h="6461102">
                <a:moveTo>
                  <a:pt x="0" y="0"/>
                </a:moveTo>
                <a:lnTo>
                  <a:pt x="9940745" y="0"/>
                </a:lnTo>
                <a:lnTo>
                  <a:pt x="9940745" y="6461102"/>
                </a:lnTo>
                <a:lnTo>
                  <a:pt x="0" y="64611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4098" r="-16477" b="-4098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55156" y="1915267"/>
            <a:ext cx="16184137" cy="146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  <a:spcBef>
                <a:spcPct val="0"/>
              </a:spcBef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 Description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-1779220" y="4842865"/>
            <a:ext cx="11820198" cy="304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DATASET WITH </a:t>
            </a:r>
          </a:p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14967 ROWS &amp;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57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Freeform 1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443067" y="310010"/>
            <a:ext cx="207197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 Statement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11692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86181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b="-18245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786291" y="3234603"/>
            <a:ext cx="6031139" cy="6536151"/>
          </a:xfrm>
          <a:custGeom>
            <a:avLst/>
            <a:gdLst/>
            <a:ahLst/>
            <a:cxnLst/>
            <a:rect l="l" t="t" r="r" b="b"/>
            <a:pathLst>
              <a:path w="6031139" h="6536151">
                <a:moveTo>
                  <a:pt x="0" y="0"/>
                </a:moveTo>
                <a:lnTo>
                  <a:pt x="6031139" y="0"/>
                </a:lnTo>
                <a:lnTo>
                  <a:pt x="6031139" y="6536152"/>
                </a:lnTo>
                <a:lnTo>
                  <a:pt x="0" y="65361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6121" r="-6121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82733" y="3193985"/>
            <a:ext cx="11245314" cy="684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Loaded and inspected the dataset to understand its structure, features, and dimensions.</a:t>
            </a:r>
          </a:p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Handled missing values by replacing them with the </a:t>
            </a:r>
            <a:r>
              <a:rPr lang="en-US" sz="20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mean</a:t>
            </a: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of numerical columns to maintain data consistency.</a:t>
            </a:r>
          </a:p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Performed </a:t>
            </a:r>
            <a:r>
              <a:rPr lang="en-US" sz="20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engineering</a:t>
            </a: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by creating:</a:t>
            </a:r>
          </a:p>
          <a:p>
            <a:pPr algn="l">
              <a:lnSpc>
                <a:spcPts val="4570"/>
              </a:lnSpc>
            </a:pPr>
            <a:r>
              <a:rPr lang="en-US" sz="22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</a:t>
            </a:r>
          </a:p>
          <a:p>
            <a:pPr algn="l">
              <a:lnSpc>
                <a:spcPts val="4570"/>
              </a:lnSpc>
            </a:pPr>
            <a:endParaRPr lang="en-US" sz="2207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Selected</a:t>
            </a:r>
            <a:r>
              <a:rPr lang="en-US" sz="20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relevant input features</a:t>
            </a: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 defined the target variable (Temperature).</a:t>
            </a:r>
          </a:p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Removed outliers using the </a:t>
            </a:r>
            <a:r>
              <a:rPr lang="en-US" sz="20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Interquartile Range (IQR) method</a:t>
            </a: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improve model robustness.</a:t>
            </a:r>
          </a:p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Split the dataset into</a:t>
            </a:r>
            <a:r>
              <a:rPr lang="en-US" sz="20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70% training and 30% testing data</a:t>
            </a: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unbiased evaluation.</a:t>
            </a:r>
          </a:p>
          <a:p>
            <a:pPr marL="433488" lvl="1" indent="-216744" algn="l">
              <a:lnSpc>
                <a:spcPts val="4156"/>
              </a:lnSpc>
              <a:buFont typeface="Arial"/>
              <a:buChar char="•"/>
            </a:pP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Applied </a:t>
            </a:r>
            <a:r>
              <a:rPr lang="en-US" sz="20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StandardScaler to normalize feature</a:t>
            </a:r>
            <a:r>
              <a:rPr lang="en-US" sz="20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values and improve model performance, especially for Linear Regression.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5039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Preprocessing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UCS321 Introduction to AI for Engineers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5156" y="1967969"/>
            <a:ext cx="16083771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Preprocessing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2434" y="6003972"/>
            <a:ext cx="8429867" cy="94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73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Power_Load = Voltage × Current</a:t>
            </a:r>
          </a:p>
          <a:p>
            <a:pPr algn="ctr">
              <a:lnSpc>
                <a:spcPts val="3824"/>
              </a:lnSpc>
              <a:spcBef>
                <a:spcPct val="0"/>
              </a:spcBef>
            </a:pPr>
            <a:r>
              <a:rPr lang="en-US" sz="273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Workload = CPU_Utilization × Memory_Usage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06591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16099" y="372725"/>
              <a:ext cx="2348110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Problem Statement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085296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61894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232510" y="406591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Cleaning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b="-18245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28700" y="3755592"/>
            <a:ext cx="7514413" cy="5272917"/>
          </a:xfrm>
          <a:custGeom>
            <a:avLst/>
            <a:gdLst/>
            <a:ahLst/>
            <a:cxnLst/>
            <a:rect l="l" t="t" r="r" b="b"/>
            <a:pathLst>
              <a:path w="7514413" h="5272917">
                <a:moveTo>
                  <a:pt x="0" y="0"/>
                </a:moveTo>
                <a:lnTo>
                  <a:pt x="7514413" y="0"/>
                </a:lnTo>
                <a:lnTo>
                  <a:pt x="7514413" y="5272917"/>
                </a:lnTo>
                <a:lnTo>
                  <a:pt x="0" y="527291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b="-21845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910617" y="3755592"/>
            <a:ext cx="7395383" cy="5272917"/>
          </a:xfrm>
          <a:custGeom>
            <a:avLst/>
            <a:gdLst/>
            <a:ahLst/>
            <a:cxnLst/>
            <a:rect l="l" t="t" r="r" b="b"/>
            <a:pathLst>
              <a:path w="7395383" h="5272917">
                <a:moveTo>
                  <a:pt x="0" y="0"/>
                </a:moveTo>
                <a:lnTo>
                  <a:pt x="7395383" y="0"/>
                </a:lnTo>
                <a:lnTo>
                  <a:pt x="7395383" y="5272917"/>
                </a:lnTo>
                <a:lnTo>
                  <a:pt x="0" y="527291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r="-5433" b="-26431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55156" y="1915267"/>
            <a:ext cx="16184137" cy="146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  <a:spcBef>
                <a:spcPct val="0"/>
              </a:spcBef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Cleaning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43432" y="9497799"/>
            <a:ext cx="1553409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BEFORE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39979" y="9497799"/>
            <a:ext cx="1245513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9649964" cy="10189489"/>
            <a:chOff x="0" y="0"/>
            <a:chExt cx="26199952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AutoShape 12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7257423" y="186114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Problem Statement</a:t>
              </a:r>
            </a:p>
          </p:txBody>
        </p:sp>
        <p:sp>
          <p:nvSpPr>
            <p:cNvPr id="15" name="Freeform 15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3615590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D84BC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4381575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b="-18245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59683" y="4408741"/>
            <a:ext cx="5206336" cy="3086638"/>
          </a:xfrm>
          <a:custGeom>
            <a:avLst/>
            <a:gdLst/>
            <a:ahLst/>
            <a:cxnLst/>
            <a:rect l="l" t="t" r="r" b="b"/>
            <a:pathLst>
              <a:path w="5206336" h="3086638">
                <a:moveTo>
                  <a:pt x="0" y="0"/>
                </a:moveTo>
                <a:lnTo>
                  <a:pt x="5206335" y="0"/>
                </a:lnTo>
                <a:lnTo>
                  <a:pt x="5206335" y="3086638"/>
                </a:lnTo>
                <a:lnTo>
                  <a:pt x="0" y="308663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3650" t="-27244" b="-474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2902829" y="4408741"/>
            <a:ext cx="5117435" cy="3086638"/>
          </a:xfrm>
          <a:custGeom>
            <a:avLst/>
            <a:gdLst/>
            <a:ahLst/>
            <a:cxnLst/>
            <a:rect l="l" t="t" r="r" b="b"/>
            <a:pathLst>
              <a:path w="5117435" h="3086638">
                <a:moveTo>
                  <a:pt x="0" y="0"/>
                </a:moveTo>
                <a:lnTo>
                  <a:pt x="5117436" y="0"/>
                </a:lnTo>
                <a:lnTo>
                  <a:pt x="5117436" y="3086638"/>
                </a:lnTo>
                <a:lnTo>
                  <a:pt x="0" y="308663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9078" t="-34164" r="-4787" b="-578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047414" y="2114301"/>
            <a:ext cx="9555135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ML Models Used</a:t>
            </a:r>
          </a:p>
        </p:txBody>
      </p:sp>
      <p:sp>
        <p:nvSpPr>
          <p:cNvPr id="31" name="Freeform 31"/>
          <p:cNvSpPr/>
          <p:nvPr/>
        </p:nvSpPr>
        <p:spPr>
          <a:xfrm>
            <a:off x="5981989" y="4408741"/>
            <a:ext cx="6404870" cy="3086638"/>
          </a:xfrm>
          <a:custGeom>
            <a:avLst/>
            <a:gdLst/>
            <a:ahLst/>
            <a:cxnLst/>
            <a:rect l="l" t="t" r="r" b="b"/>
            <a:pathLst>
              <a:path w="6404870" h="3086638">
                <a:moveTo>
                  <a:pt x="0" y="0"/>
                </a:moveTo>
                <a:lnTo>
                  <a:pt x="6404870" y="0"/>
                </a:lnTo>
                <a:lnTo>
                  <a:pt x="6404870" y="3086638"/>
                </a:lnTo>
                <a:lnTo>
                  <a:pt x="0" y="308663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221" t="-25443" r="-2485" b="-5733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779004" y="7735594"/>
            <a:ext cx="4687014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LINEAR REGRESSION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34910" y="7709559"/>
            <a:ext cx="3552349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DECISION TREE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39953" y="7709559"/>
            <a:ext cx="4086344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Linear Regression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255156" y="2044363"/>
            <a:ext cx="1168470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Linear Regression</a:t>
            </a:r>
          </a:p>
        </p:txBody>
      </p:sp>
      <p:sp>
        <p:nvSpPr>
          <p:cNvPr id="31" name="Freeform 31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55156" y="3972744"/>
            <a:ext cx="17264206" cy="405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Baseline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regression model.</a:t>
            </a:r>
          </a:p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Assumes linear relationship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between features and temperature.</a:t>
            </a:r>
          </a:p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Applied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scaling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better performance.</a:t>
            </a:r>
          </a:p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Used for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comparison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with advanced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Linear Regression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55156" y="2123935"/>
            <a:ext cx="9936102" cy="7739408"/>
          </a:xfrm>
          <a:custGeom>
            <a:avLst/>
            <a:gdLst/>
            <a:ahLst/>
            <a:cxnLst/>
            <a:rect l="l" t="t" r="r" b="b"/>
            <a:pathLst>
              <a:path w="9936102" h="7739408">
                <a:moveTo>
                  <a:pt x="0" y="0"/>
                </a:moveTo>
                <a:lnTo>
                  <a:pt x="9936102" y="0"/>
                </a:lnTo>
                <a:lnTo>
                  <a:pt x="9936102" y="7739408"/>
                </a:lnTo>
                <a:lnTo>
                  <a:pt x="0" y="773940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791" b="-791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639206" y="5076825"/>
            <a:ext cx="7029359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R2 score: 0.6826136006692878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RMSE: 11.69814902583441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Decision Tree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255156" y="2044363"/>
            <a:ext cx="1168470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Decision Tree</a:t>
            </a:r>
          </a:p>
        </p:txBody>
      </p:sp>
      <p:sp>
        <p:nvSpPr>
          <p:cNvPr id="31" name="Freeform 31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0" y="3817885"/>
            <a:ext cx="19520721" cy="405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1263" lvl="1" indent="-445631" algn="l">
              <a:lnSpc>
                <a:spcPts val="8214"/>
              </a:lnSpc>
              <a:buFont typeface="Arial"/>
              <a:buChar char="•"/>
            </a:pP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Non-linear model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that splits data into decision nodes.</a:t>
            </a:r>
          </a:p>
          <a:p>
            <a:pPr marL="891263" lvl="1" indent="-445631" algn="l">
              <a:lnSpc>
                <a:spcPts val="8214"/>
              </a:lnSpc>
              <a:buFont typeface="Arial"/>
              <a:buChar char="•"/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Captures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complex patterns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 server workload.</a:t>
            </a:r>
          </a:p>
          <a:p>
            <a:pPr marL="891263" lvl="1" indent="-445631" algn="l">
              <a:lnSpc>
                <a:spcPts val="8214"/>
              </a:lnSpc>
              <a:buFont typeface="Arial"/>
              <a:buChar char="•"/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Tuned using max_depth, min_samples_split, and min_samples_leaf.</a:t>
            </a:r>
          </a:p>
          <a:p>
            <a:pPr marL="891263" lvl="1" indent="-445631" algn="l">
              <a:lnSpc>
                <a:spcPts val="8214"/>
              </a:lnSpc>
              <a:buFont typeface="Arial"/>
              <a:buChar char="•"/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Moderate performance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(~85% R²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Decision Tree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55156" y="2172691"/>
            <a:ext cx="9874420" cy="7813134"/>
          </a:xfrm>
          <a:custGeom>
            <a:avLst/>
            <a:gdLst/>
            <a:ahLst/>
            <a:cxnLst/>
            <a:rect l="l" t="t" r="r" b="b"/>
            <a:pathLst>
              <a:path w="9874420" h="7813134">
                <a:moveTo>
                  <a:pt x="0" y="0"/>
                </a:moveTo>
                <a:lnTo>
                  <a:pt x="9874420" y="0"/>
                </a:lnTo>
                <a:lnTo>
                  <a:pt x="9874420" y="7813134"/>
                </a:lnTo>
                <a:lnTo>
                  <a:pt x="0" y="781313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1074035" y="5518553"/>
            <a:ext cx="5917406" cy="120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R2: 0.8335370528110876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RMSE: 7.404543035873175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Random Forest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255156" y="2044363"/>
            <a:ext cx="1168470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Random Forest</a:t>
            </a:r>
          </a:p>
        </p:txBody>
      </p:sp>
      <p:sp>
        <p:nvSpPr>
          <p:cNvPr id="31" name="Freeform 31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55156" y="3817885"/>
            <a:ext cx="17264206" cy="405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Ensemble model 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combining multiple decision trees.</a:t>
            </a:r>
          </a:p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Reduces overfitting and improves stability.</a:t>
            </a:r>
          </a:p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Used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300 trees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with optimized depth and splitting criteria.</a:t>
            </a:r>
          </a:p>
          <a:p>
            <a:pPr algn="l">
              <a:lnSpc>
                <a:spcPts val="8214"/>
              </a:lnSpc>
            </a:pP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Achieved </a:t>
            </a:r>
            <a:r>
              <a:rPr lang="en-US" sz="4128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highest accuracy</a:t>
            </a:r>
            <a:r>
              <a:rPr lang="en-US" sz="4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among all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Random Forest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55156" y="2172691"/>
            <a:ext cx="9886239" cy="7822487"/>
          </a:xfrm>
          <a:custGeom>
            <a:avLst/>
            <a:gdLst/>
            <a:ahLst/>
            <a:cxnLst/>
            <a:rect l="l" t="t" r="r" b="b"/>
            <a:pathLst>
              <a:path w="9886239" h="7822487">
                <a:moveTo>
                  <a:pt x="0" y="0"/>
                </a:moveTo>
                <a:lnTo>
                  <a:pt x="9886239" y="0"/>
                </a:lnTo>
                <a:lnTo>
                  <a:pt x="9886239" y="7822486"/>
                </a:lnTo>
                <a:lnTo>
                  <a:pt x="0" y="782248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1070041" y="5421474"/>
            <a:ext cx="5936990" cy="1248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2"/>
              </a:lnSpc>
              <a:spcBef>
                <a:spcPct val="0"/>
              </a:spcBef>
            </a:pPr>
            <a:r>
              <a:rPr lang="en-US" sz="360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R2: 0.9633137016783759</a:t>
            </a:r>
          </a:p>
          <a:p>
            <a:pPr algn="ctr">
              <a:lnSpc>
                <a:spcPts val="5052"/>
              </a:lnSpc>
              <a:spcBef>
                <a:spcPct val="0"/>
              </a:spcBef>
            </a:pPr>
            <a:r>
              <a:rPr lang="en-US" sz="360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RMSE: 3.456813329579411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Comparison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4664534" y="3345920"/>
            <a:ext cx="8958932" cy="6637040"/>
          </a:xfrm>
          <a:custGeom>
            <a:avLst/>
            <a:gdLst/>
            <a:ahLst/>
            <a:cxnLst/>
            <a:rect l="l" t="t" r="r" b="b"/>
            <a:pathLst>
              <a:path w="8958932" h="6637040">
                <a:moveTo>
                  <a:pt x="0" y="0"/>
                </a:moveTo>
                <a:lnTo>
                  <a:pt x="8958932" y="0"/>
                </a:lnTo>
                <a:lnTo>
                  <a:pt x="8958932" y="6637041"/>
                </a:lnTo>
                <a:lnTo>
                  <a:pt x="0" y="663704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3149" b="-3149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55156" y="2154976"/>
            <a:ext cx="22856665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Test vs Train Accuracy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Cross Validation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5156" y="2044363"/>
            <a:ext cx="1462702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Cross Validation Results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5156" y="3717924"/>
            <a:ext cx="13569553" cy="278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Applied 5-fold cross-validation to all three models.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Used R² score as the evaluation metric.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Ensured model stability across multiple data splits.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• Reduced dependency on a single train-test split.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5156" y="7237153"/>
            <a:ext cx="13266149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Random Forest CV Score: 0.9608035716247445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Decision Tree CV Score: 0.8368193848632488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Linear Regression CV Score: 0.6918074878563079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Conclusion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18245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429788" y="4726222"/>
            <a:ext cx="5536584" cy="3573860"/>
          </a:xfrm>
          <a:custGeom>
            <a:avLst/>
            <a:gdLst/>
            <a:ahLst/>
            <a:cxnLst/>
            <a:rect l="l" t="t" r="r" b="b"/>
            <a:pathLst>
              <a:path w="5536584" h="3573860">
                <a:moveTo>
                  <a:pt x="0" y="0"/>
                </a:moveTo>
                <a:lnTo>
                  <a:pt x="5536584" y="0"/>
                </a:lnTo>
                <a:lnTo>
                  <a:pt x="5536584" y="3573860"/>
                </a:lnTo>
                <a:lnTo>
                  <a:pt x="0" y="357386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909" r="-3717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55156" y="2044363"/>
            <a:ext cx="16286225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Conclusion &amp; Future Scope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0799" y="3888276"/>
            <a:ext cx="11933404" cy="332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Successfully developed a Machine Learning model to predict server CPU temperature.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Feature engineering 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(Power_Load, Workload) improved 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prediction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capability.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Random Forest achieved the 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highest R²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score among all models.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Cross-validation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confirmed model stability and reliability.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The model can support proactive cooling decisions and reduce overheating risks.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0" y="3273088"/>
            <a:ext cx="352244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0" y="7200985"/>
            <a:ext cx="352244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Scope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5156" y="7795260"/>
            <a:ext cx="12009046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 real-time temperature prediction using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live server data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 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IoT 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sensors for automated cooling control.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Apply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advanced models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like XGBoost or Deep Learning for further accuracy improvement.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Deploy the model in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cloud-based monitoring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systems for scalable solution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  <a:hlinkClick r:id="rId8" tooltip="https://www.kaggle.com/datasets/mohammedarfathr/cpu-performance-metrics-system-monitoring-logs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  <a:hlinkClick r:id="rId8" tooltip="https://www.kaggle.com/datasets/mohammedarfathr/cpu-performance-metrics-system-monitoring-logs"/>
                </a:rPr>
                <a:t>Introduction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flipH="1">
              <a:off x="224626" y="203967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073273" y="193350"/>
              <a:ext cx="2762629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  <a:hlinkClick r:id="rId8" tooltip="https://www.kaggle.com/datasets/mohammedarfathr/cpu-performance-metrics-system-monitoring-logs"/>
                </a:rPr>
                <a:t>Data Preprocessing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  <a:hlinkClick r:id="rId8" tooltip="https://www.kaggle.com/datasets/mohammedarfathr/cpu-performance-metrics-system-monitoring-logs"/>
                </a:rPr>
                <a:t>ML Models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u="sng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  <a:hlinkClick r:id="rId8" tooltip="https://www.kaggle.com/datasets/mohammedarfathr/cpu-performance-metrics-system-monitoring-logs"/>
                </a:rPr>
                <a:t>Cross Validation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u="sng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  <a:hlinkClick r:id="rId8" tooltip="https://www.kaggle.com/datasets/mohammedarfathr/cpu-performance-metrics-system-monitoring-logs"/>
                </a:rPr>
                <a:t>UCS321 Introduction to AI for Engineers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255156" y="240498"/>
            <a:ext cx="860230" cy="727494"/>
          </a:xfrm>
          <a:custGeom>
            <a:avLst/>
            <a:gdLst/>
            <a:ahLst/>
            <a:cxnLst/>
            <a:rect l="l" t="t" r="r" b="b"/>
            <a:pathLst>
              <a:path w="860230" h="727494">
                <a:moveTo>
                  <a:pt x="0" y="0"/>
                </a:moveTo>
                <a:lnTo>
                  <a:pt x="860231" y="0"/>
                </a:lnTo>
                <a:lnTo>
                  <a:pt x="860231" y="727495"/>
                </a:lnTo>
                <a:lnTo>
                  <a:pt x="0" y="72749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b="-18245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5156" y="2044363"/>
            <a:ext cx="1462702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References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5156" y="5765107"/>
            <a:ext cx="13611439" cy="161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347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22" tooltip="https://dl.acm.org/doi/10.1145/2694344.2694378"/>
              </a:rPr>
              <a:t>https://dl.acm.org/doi/10.1145/2694344.2694378</a:t>
            </a:r>
          </a:p>
          <a:p>
            <a:pPr algn="l">
              <a:lnSpc>
                <a:spcPts val="3286"/>
              </a:lnSpc>
            </a:pPr>
            <a:r>
              <a:rPr lang="en-US" sz="23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CoolAir: Temperature- and Variation-Aware Management for Free-Cooled Datacenters</a:t>
            </a:r>
          </a:p>
          <a:p>
            <a:pPr algn="l">
              <a:lnSpc>
                <a:spcPts val="3286"/>
              </a:lnSpc>
            </a:pPr>
            <a:r>
              <a:rPr lang="en-US" sz="234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Moore, J., Chase, J., Ranganathan, P., &amp; Sharma, R. (2005)</a:t>
            </a:r>
          </a:p>
          <a:p>
            <a:pPr algn="ctr">
              <a:lnSpc>
                <a:spcPts val="3286"/>
              </a:lnSpc>
              <a:spcBef>
                <a:spcPct val="0"/>
              </a:spcBef>
            </a:pPr>
            <a:endParaRPr lang="en-US" sz="2347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06568" y="3971209"/>
            <a:ext cx="1519950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www.kaggle.com/datasets/mohammedarfathr/cpu-performance-metrics-system-monitoring-logs"/>
              </a:rPr>
              <a:t>https://www.kaggle.com/datasets/mohammedarfathr/cpu-performance-metrics-system-monitoring-logs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CPU Performance Metrics (System Monitoring Logs)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-5058032" y="3437173"/>
            <a:ext cx="1217346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-4971345" y="5077379"/>
            <a:ext cx="1217346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ARTICLES: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5156" y="7334250"/>
            <a:ext cx="16319080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23" tooltip="https://www.researchgate.net/publication/355483327_Study_on_the_Prediction_of_Indoor_Temperature_and_Thermal_Load_on_Different_Floors_in_a_Community"/>
              </a:rPr>
              <a:t>https://www.researchgate.net/publication/355483327_Study_on_the_Prediction_of_Indoor_Temperature_and_Thermal_Load_on_Different_Floors_in_a_Community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Study on the Prediction of Indoor Temperature and Thermal Load on Different Floors in a Community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endParaRPr lang="en-US" sz="22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-451417" y="8885555"/>
            <a:ext cx="802008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24" tooltip="https://lms.thapar.edu/moodle/mod/resource/view.php?id=151119"/>
              </a:rPr>
              <a:t>Ope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24" tooltip="https://lms.thapar.edu/moodle/mod/resource/view.php?id=151119"/>
              </a:rPr>
              <a:t>rating System Concepts By Galving 9th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1054</Words>
  <Application>Microsoft Office PowerPoint</Application>
  <PresentationFormat>Custom</PresentationFormat>
  <Paragraphs>189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Times New Roman MT Italics</vt:lpstr>
      <vt:lpstr>Garet</vt:lpstr>
      <vt:lpstr>Arial</vt:lpstr>
      <vt:lpstr>Garet Bold Italics</vt:lpstr>
      <vt:lpstr>Garet Bold</vt:lpstr>
      <vt:lpstr>Open Sauce</vt:lpstr>
      <vt:lpstr>Open Sauce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Server CPU Temperature using Machine Learning</dc:title>
  <cp:lastModifiedBy>gnipun2005@gmail.com</cp:lastModifiedBy>
  <cp:revision>2</cp:revision>
  <dcterms:created xsi:type="dcterms:W3CDTF">2006-08-16T00:00:00Z</dcterms:created>
  <dcterms:modified xsi:type="dcterms:W3CDTF">2026-10-06T16:10:32Z</dcterms:modified>
  <dc:identifier>DAHCOhSI10c</dc:identifier>
</cp:coreProperties>
</file>